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00B4D8">
              <a:alpha val="15000"/>
            </a:srgbClr>
          </a:solidFill>
          <a:ln w="254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457200"/>
            <a:ext cx="2834640" cy="2834640"/>
          </a:xfrm>
          <a:prstGeom prst="ellipse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840480"/>
            <a:ext cx="1828800" cy="1828800"/>
          </a:xfrm>
          <a:prstGeom prst="ellipse">
            <a:avLst/>
          </a:prstGeom>
          <a:solidFill>
            <a:srgbClr val="0077A8">
              <a:alpha val="2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0080"/>
            <a:ext cx="777240" cy="777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7472" y="15544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SafeID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347472" y="24231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de Monitoramento de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Exposição Digital com Assistente Inteligente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347472" y="3493008"/>
            <a:ext cx="47548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7472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Antônio  •  Kelvyn Milu  •  Lucas Vieira  •  Matheus Pereira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47472" y="4160520"/>
            <a:ext cx="1371600" cy="384048"/>
          </a:xfrm>
          <a:prstGeom prst="rect">
            <a:avLst>
              <a:gd name="adj" fmla="val 11905"/>
            </a:avLst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7472" y="41605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PI1A5 —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201168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20116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47472" y="1234440"/>
            <a:ext cx="4206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47472" y="1234440"/>
            <a:ext cx="420624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35608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33272" y="139903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Exposição Oculta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48640" y="189280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Milhões de pessoas têm dados vazados sem saber: e-mails, senhas e informações pessoais circulam livremente na internet.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754880" y="1234440"/>
            <a:ext cx="4206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754880" y="1234440"/>
            <a:ext cx="420624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8" y="1435608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40680" y="139903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Global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956048" y="189280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Centenas de milhões de contas comprometidas globalmente — LinkedIn, Adobe, Dropbox e muito mais.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347472" y="3063240"/>
            <a:ext cx="4206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347472" y="3063240"/>
            <a:ext cx="420624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264408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33272" y="322783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Consequências Reais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548640" y="372160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Fraudes financeiras, roubo de contas, golpes de engenharia social e invasão de privacidade.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4754880" y="3063240"/>
            <a:ext cx="4206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754880" y="3063240"/>
            <a:ext cx="420624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3264408"/>
            <a:ext cx="384048" cy="38404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440680" y="322783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Descoberta Tardia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4956048" y="372160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maioria das vítimas só descobre após sofrer um golpe — quando já é tarde demais para agir.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25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8288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20116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PROPOSTA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28600" y="1005840"/>
            <a:ext cx="2331720" cy="41148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8600" y="10058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606040" y="1005840"/>
            <a:ext cx="1417320" cy="41148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606040" y="10058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I Been Pwned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069080" y="1005840"/>
            <a:ext cx="1417320" cy="41148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69080" y="10058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Mozilla Monitor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532120" y="1005840"/>
            <a:ext cx="1417320" cy="41148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32120" y="10058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Serviços Pagos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995160" y="1005840"/>
            <a:ext cx="150876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95160" y="10058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SafeID ✓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28600" y="1444752"/>
            <a:ext cx="2331720" cy="621792"/>
          </a:xfrm>
          <a:prstGeom prst="rect">
            <a:avLst/>
          </a:prstGeom>
          <a:solidFill>
            <a:srgbClr val="0F2236"/>
          </a:solidFill>
          <a:ln w="6350">
            <a:solidFill>
              <a:srgbClr val="1A3A5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83464" y="1444752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de Dados Vazados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606040" y="1444752"/>
            <a:ext cx="1417320" cy="621792"/>
          </a:xfrm>
          <a:prstGeom prst="rect">
            <a:avLst/>
          </a:prstGeom>
          <a:solidFill>
            <a:srgbClr val="0F2236"/>
          </a:solidFill>
          <a:ln w="6350">
            <a:solidFill>
              <a:srgbClr val="1A3A5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660904" y="1444752"/>
            <a:ext cx="1325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E-mail / senha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069080" y="1444752"/>
            <a:ext cx="1417320" cy="621792"/>
          </a:xfrm>
          <a:prstGeom prst="rect">
            <a:avLst/>
          </a:prstGeom>
          <a:solidFill>
            <a:srgbClr val="0F2236"/>
          </a:solidFill>
          <a:ln w="6350">
            <a:solidFill>
              <a:srgbClr val="1A3A5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23944" y="1444752"/>
            <a:ext cx="1325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Via HIBP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532120" y="1444752"/>
            <a:ext cx="1417320" cy="621792"/>
          </a:xfrm>
          <a:prstGeom prst="rect">
            <a:avLst/>
          </a:prstGeom>
          <a:solidFill>
            <a:srgbClr val="0F2236"/>
          </a:solidFill>
          <a:ln w="6350">
            <a:solidFill>
              <a:srgbClr val="1A3A5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586984" y="1444752"/>
            <a:ext cx="1325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Pacotes completos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995160" y="1444752"/>
            <a:ext cx="1508760" cy="621792"/>
          </a:xfrm>
          <a:prstGeom prst="rect">
            <a:avLst/>
          </a:prstGeom>
          <a:solidFill>
            <a:srgbClr val="052D3F"/>
          </a:solidFill>
          <a:ln w="6350">
            <a:solidFill>
              <a:srgbClr val="0077A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050024" y="1444752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APIs integradas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228600" y="2103120"/>
            <a:ext cx="2331720" cy="621792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83464" y="2103120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Explicação de Risco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2606040" y="2103120"/>
            <a:ext cx="1417320" cy="621792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660904" y="2103120"/>
            <a:ext cx="1325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Apenas resultado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069080" y="2103120"/>
            <a:ext cx="1417320" cy="621792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123944" y="2103120"/>
            <a:ext cx="1325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Sem explicação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532120" y="2103120"/>
            <a:ext cx="1417320" cy="621792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586984" y="2103120"/>
            <a:ext cx="1325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Genérica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6995160" y="2103120"/>
            <a:ext cx="1508760" cy="621792"/>
          </a:xfrm>
          <a:prstGeom prst="rect">
            <a:avLst/>
          </a:prstGeom>
          <a:solidFill>
            <a:srgbClr val="052D3F"/>
          </a:solidFill>
          <a:ln w="6350">
            <a:solidFill>
              <a:srgbClr val="0077A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050024" y="2103120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Linguagem natural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228600" y="2761488"/>
            <a:ext cx="2331720" cy="621792"/>
          </a:xfrm>
          <a:prstGeom prst="rect">
            <a:avLst/>
          </a:prstGeom>
          <a:solidFill>
            <a:srgbClr val="0F2236"/>
          </a:solidFill>
          <a:ln w="6350">
            <a:solidFill>
              <a:srgbClr val="1A3A5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283464" y="2761488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Recomendações Personalizadas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2606040" y="2761488"/>
            <a:ext cx="1417320" cy="621792"/>
          </a:xfrm>
          <a:prstGeom prst="rect">
            <a:avLst/>
          </a:prstGeom>
          <a:solidFill>
            <a:srgbClr val="0F2236"/>
          </a:solidFill>
          <a:ln w="6350">
            <a:solidFill>
              <a:srgbClr val="1A3A52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660904" y="2761488"/>
            <a:ext cx="1325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Não oferece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4069080" y="2761488"/>
            <a:ext cx="1417320" cy="621792"/>
          </a:xfrm>
          <a:prstGeom prst="rect">
            <a:avLst/>
          </a:prstGeom>
          <a:solidFill>
            <a:srgbClr val="0F2236"/>
          </a:solidFill>
          <a:ln w="6350">
            <a:solidFill>
              <a:srgbClr val="1A3A52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123944" y="2761488"/>
            <a:ext cx="1325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Não oferece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5532120" y="2761488"/>
            <a:ext cx="1417320" cy="621792"/>
          </a:xfrm>
          <a:prstGeom prst="rect">
            <a:avLst/>
          </a:prstGeom>
          <a:solidFill>
            <a:srgbClr val="0F2236"/>
          </a:solidFill>
          <a:ln w="6350">
            <a:solidFill>
              <a:srgbClr val="1A3A52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586984" y="2761488"/>
            <a:ext cx="1325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Básicas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6995160" y="2761488"/>
            <a:ext cx="1508760" cy="621792"/>
          </a:xfrm>
          <a:prstGeom prst="rect">
            <a:avLst/>
          </a:prstGeom>
          <a:solidFill>
            <a:srgbClr val="052D3F"/>
          </a:solidFill>
          <a:ln w="6350">
            <a:solidFill>
              <a:srgbClr val="0077A8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050024" y="2761488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Via IA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228600" y="3419856"/>
            <a:ext cx="2331720" cy="621792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2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283464" y="3419856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 Inteligente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2606040" y="3419856"/>
            <a:ext cx="1417320" cy="621792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2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2660904" y="3419856"/>
            <a:ext cx="1325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Não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4069080" y="3419856"/>
            <a:ext cx="1417320" cy="621792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2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4123944" y="3419856"/>
            <a:ext cx="1325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Não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5532120" y="3419856"/>
            <a:ext cx="1417320" cy="621792"/>
          </a:xfrm>
          <a:prstGeom prst="rect">
            <a:avLst/>
          </a:prstGeom>
          <a:solidFill>
            <a:srgbClr val="0D1B2A"/>
          </a:solidFill>
          <a:ln w="6350">
            <a:solidFill>
              <a:srgbClr val="1A3A52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586984" y="3419856"/>
            <a:ext cx="1325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Geralmente não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6995160" y="3419856"/>
            <a:ext cx="1508760" cy="621792"/>
          </a:xfrm>
          <a:prstGeom prst="rect">
            <a:avLst/>
          </a:prstGeom>
          <a:solidFill>
            <a:srgbClr val="052D3F"/>
          </a:solidFill>
          <a:ln w="6350">
            <a:solidFill>
              <a:srgbClr val="0077A8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7050024" y="3419856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Chat com IA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228600" y="4078224"/>
            <a:ext cx="2331720" cy="621792"/>
          </a:xfrm>
          <a:prstGeom prst="rect">
            <a:avLst/>
          </a:prstGeom>
          <a:solidFill>
            <a:srgbClr val="0F2236"/>
          </a:solidFill>
          <a:ln w="6350">
            <a:solidFill>
              <a:srgbClr val="1A3A52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283464" y="4078224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Risco</a:t>
            </a:r>
            <a:endParaRPr lang="en-US" sz="1000" dirty="0"/>
          </a:p>
        </p:txBody>
      </p:sp>
      <p:sp>
        <p:nvSpPr>
          <p:cNvPr id="58" name="Shape 55"/>
          <p:cNvSpPr/>
          <p:nvPr/>
        </p:nvSpPr>
        <p:spPr>
          <a:xfrm>
            <a:off x="2606040" y="4078224"/>
            <a:ext cx="1417320" cy="621792"/>
          </a:xfrm>
          <a:prstGeom prst="rect">
            <a:avLst/>
          </a:prstGeom>
          <a:solidFill>
            <a:srgbClr val="0F2236"/>
          </a:solidFill>
          <a:ln w="6350">
            <a:solidFill>
              <a:srgbClr val="1A3A52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2660904" y="4078224"/>
            <a:ext cx="1325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Não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4069080" y="4078224"/>
            <a:ext cx="1417320" cy="621792"/>
          </a:xfrm>
          <a:prstGeom prst="rect">
            <a:avLst/>
          </a:prstGeom>
          <a:solidFill>
            <a:srgbClr val="0F2236"/>
          </a:solidFill>
          <a:ln w="6350">
            <a:solidFill>
              <a:srgbClr val="1A3A52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4123944" y="4078224"/>
            <a:ext cx="1325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Não</a:t>
            </a:r>
            <a:endParaRPr lang="en-US" sz="1000" dirty="0"/>
          </a:p>
        </p:txBody>
      </p:sp>
      <p:sp>
        <p:nvSpPr>
          <p:cNvPr id="62" name="Shape 59"/>
          <p:cNvSpPr/>
          <p:nvPr/>
        </p:nvSpPr>
        <p:spPr>
          <a:xfrm>
            <a:off x="5532120" y="4078224"/>
            <a:ext cx="1417320" cy="621792"/>
          </a:xfrm>
          <a:prstGeom prst="rect">
            <a:avLst/>
          </a:prstGeom>
          <a:solidFill>
            <a:srgbClr val="0F2236"/>
          </a:solidFill>
          <a:ln w="6350">
            <a:solidFill>
              <a:srgbClr val="1A3A52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5586984" y="4078224"/>
            <a:ext cx="1325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Algumas tools</a:t>
            </a:r>
            <a:endParaRPr lang="en-US" sz="1000" dirty="0"/>
          </a:p>
        </p:txBody>
      </p:sp>
      <p:sp>
        <p:nvSpPr>
          <p:cNvPr id="64" name="Shape 61"/>
          <p:cNvSpPr/>
          <p:nvPr/>
        </p:nvSpPr>
        <p:spPr>
          <a:xfrm>
            <a:off x="6995160" y="4078224"/>
            <a:ext cx="1508760" cy="621792"/>
          </a:xfrm>
          <a:prstGeom prst="rect">
            <a:avLst/>
          </a:prstGeom>
          <a:solidFill>
            <a:srgbClr val="052D3F"/>
          </a:solidFill>
          <a:ln w="6350">
            <a:solidFill>
              <a:srgbClr val="0077A8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7050024" y="4078224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Score explicado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201168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20116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DESCRIÇÃO DO NEGÓCIO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47472" y="1188720"/>
            <a:ext cx="3977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47472" y="1188720"/>
            <a:ext cx="397764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0352" y="129844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da Solução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30352" y="1828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Aplicação: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30352" y="20848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/ Plataforma Digital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30352" y="2487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Propriedade: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30352" y="27432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Proprietária (acadêmico e comercializável)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30352" y="31455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Finalidade: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30352" y="34015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Educativo e de proteção pessoal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30352" y="38039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Público-alvo: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30352" y="40599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 comuns preocupados com segurança digital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26280" y="1188720"/>
            <a:ext cx="42976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26280" y="1188720"/>
            <a:ext cx="429768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09160" y="12984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Fornecedores &amp; Tecnologia</a:t>
            </a:r>
            <a:endParaRPr lang="en-US" sz="14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865376"/>
            <a:ext cx="292608" cy="29260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074920" y="1828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Externas: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5074920" y="20848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I Been Pwned (vazamentos)</a:t>
            </a:r>
            <a:endParaRPr lang="en-US" sz="11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2523744"/>
            <a:ext cx="292608" cy="29260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074920" y="2487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Serviços de IA: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5074920" y="27432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 modelo de linguagem (LLM)</a:t>
            </a:r>
            <a:endParaRPr lang="en-US" sz="11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3182112"/>
            <a:ext cx="292608" cy="29260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074920" y="31455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Infraestrutura: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5074920" y="34015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/ Railway / Cloud similar</a:t>
            </a:r>
            <a:endParaRPr lang="en-US" sz="11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3840480"/>
            <a:ext cx="292608" cy="29260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074920" y="38039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Interna: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5074920" y="40599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• React • PostgreSQL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8288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0116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CLIENTES, PRODUTO &amp; VALOR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56032" y="1097280"/>
            <a:ext cx="2834640" cy="3749040"/>
          </a:xfrm>
          <a:prstGeom prst="rect">
            <a:avLst/>
          </a:prstGeom>
          <a:solidFill>
            <a:srgbClr val="0F2236"/>
          </a:solidFill>
          <a:ln w="12700">
            <a:solidFill>
              <a:srgbClr val="1A3A5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56032" y="1097280"/>
            <a:ext cx="283464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1234440"/>
            <a:ext cx="475488" cy="4754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123444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Clientes-Alvo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20624" y="1847088"/>
            <a:ext cx="2560320" cy="182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20624" y="199339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 físicas conectadas à internet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20624" y="26517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Estudantes e profissionais liberais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20624" y="331012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 de serviços digitais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20624" y="3968496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um que queira monitorar seus dados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218688" y="1097280"/>
            <a:ext cx="2834640" cy="3749040"/>
          </a:xfrm>
          <a:prstGeom prst="rect">
            <a:avLst/>
          </a:prstGeom>
          <a:solidFill>
            <a:srgbClr val="0F2236"/>
          </a:solidFill>
          <a:ln w="12700">
            <a:solidFill>
              <a:srgbClr val="1A3A5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218688" y="1097280"/>
            <a:ext cx="283464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234440"/>
            <a:ext cx="475488" cy="4754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968496" y="123444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/ Serviço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3383280" y="1847088"/>
            <a:ext cx="2560320" cy="1828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3383280" y="199339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de exposição digital com score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3383280" y="26517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 inteligente com IA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3383280" y="331012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de e-mails, senhas e dados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3383280" y="3968496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automáticos e histórico de análises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181344" y="1097280"/>
            <a:ext cx="2834640" cy="3749040"/>
          </a:xfrm>
          <a:prstGeom prst="rect">
            <a:avLst/>
          </a:prstGeom>
          <a:solidFill>
            <a:srgbClr val="0F2236"/>
          </a:solidFill>
          <a:ln w="12700">
            <a:solidFill>
              <a:srgbClr val="1A3A52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181344" y="1097280"/>
            <a:ext cx="283464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36" y="1234440"/>
            <a:ext cx="475488" cy="47548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931152" y="123444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Agregado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6345936" y="1847088"/>
            <a:ext cx="2560320" cy="1828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6345936" y="199339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proativa contra fraudes e golpes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6345936" y="26517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Educação sobre riscos digitais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6345936" y="331012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simples, sem necessidade técnica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6345936" y="3968496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Informado antes de sofrer prejuízos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201168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20116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DO SISTEMA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0040" y="118872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1188720"/>
            <a:ext cx="27432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69848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069848" y="1600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do Usuário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02920" y="1920240"/>
            <a:ext cx="2377440" cy="182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02920" y="208483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— Responsivo e interativo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502920" y="286207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com score de risco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502920" y="363931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do assistente inteligente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3246120" y="118872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246120" y="1188720"/>
            <a:ext cx="274320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32588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995928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3995928" y="1600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/ Lógica de Negócio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3429000" y="1920240"/>
            <a:ext cx="2377440" cy="1828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429000" y="208483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3429000" y="286207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+ integrações externas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3429000" y="363931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de score + alertas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6172200" y="118872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172200" y="1188720"/>
            <a:ext cx="27432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325880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922008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6922008" y="1600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Persistência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6355080" y="1920240"/>
            <a:ext cx="2377440" cy="1828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6355080" y="208483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6355080" y="286207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Usuários, análises, vazamentos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6355080" y="363931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Recomendações IA e alertas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3090672" y="25603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</a:rPr>
              <a:t>→</a:t>
            </a:r>
            <a:endParaRPr lang="en-US" sz="2200" dirty="0"/>
          </a:p>
        </p:txBody>
      </p:sp>
      <p:sp>
        <p:nvSpPr>
          <p:cNvPr id="34" name="Text 28"/>
          <p:cNvSpPr/>
          <p:nvPr/>
        </p:nvSpPr>
        <p:spPr>
          <a:xfrm>
            <a:off x="6016752" y="25603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474720" cy="3474720"/>
          </a:xfrm>
          <a:prstGeom prst="ellipse">
            <a:avLst/>
          </a:prstGeom>
          <a:solidFill>
            <a:srgbClr val="00B4D8">
              <a:alpha val="13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8288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20116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&amp; INTEGRAÇÕES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47472" y="1097280"/>
            <a:ext cx="2651760" cy="1463040"/>
          </a:xfrm>
          <a:prstGeom prst="rect">
            <a:avLst/>
          </a:prstGeom>
          <a:solidFill>
            <a:srgbClr val="0F2236"/>
          </a:solidFill>
          <a:ln w="12700">
            <a:solidFill>
              <a:srgbClr val="1A3A5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47472" y="1097280"/>
            <a:ext cx="26517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1261872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9264" y="12618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JWT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84632" y="1755648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seguros para sessões de usuários autenticados em todas as rotas.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218688" y="1097280"/>
            <a:ext cx="2651760" cy="1463040"/>
          </a:xfrm>
          <a:prstGeom prst="rect">
            <a:avLst/>
          </a:prstGeom>
          <a:solidFill>
            <a:srgbClr val="0F2236"/>
          </a:solidFill>
          <a:ln w="12700">
            <a:solidFill>
              <a:srgbClr val="1A3A5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218688" y="1097280"/>
            <a:ext cx="26517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5848" y="1261872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40480" y="12618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de Senhas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3355848" y="1755648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bcrypt para armazenamento seguro — senhas nunca em texto puro.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089904" y="1097280"/>
            <a:ext cx="2651760" cy="1463040"/>
          </a:xfrm>
          <a:prstGeom prst="rect">
            <a:avLst/>
          </a:prstGeom>
          <a:solidFill>
            <a:srgbClr val="0F2236"/>
          </a:solidFill>
          <a:ln w="12700">
            <a:solidFill>
              <a:srgbClr val="1A3A52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089904" y="1097280"/>
            <a:ext cx="26517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7064" y="1261872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711696" y="12618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Rotas Protegidas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6227064" y="1755648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de inputs e proteção de endpoints sensíveis da API REST.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347472" y="2788920"/>
            <a:ext cx="2651760" cy="1463040"/>
          </a:xfrm>
          <a:prstGeom prst="rect">
            <a:avLst/>
          </a:prstGeom>
          <a:solidFill>
            <a:srgbClr val="0F2236"/>
          </a:solidFill>
          <a:ln w="12700">
            <a:solidFill>
              <a:srgbClr val="1A3A52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347472" y="2788920"/>
            <a:ext cx="26517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2953512"/>
            <a:ext cx="384048" cy="38404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69264" y="29535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I Been Pwned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484632" y="3447288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a maior base de dados pública de vazamentos globais.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3218688" y="2788920"/>
            <a:ext cx="2651760" cy="1463040"/>
          </a:xfrm>
          <a:prstGeom prst="rect">
            <a:avLst/>
          </a:prstGeom>
          <a:solidFill>
            <a:srgbClr val="0F2236"/>
          </a:solidFill>
          <a:ln w="12700">
            <a:solidFill>
              <a:srgbClr val="1A3A52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3218688" y="2788920"/>
            <a:ext cx="26517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5848" y="2953512"/>
            <a:ext cx="384048" cy="38404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3840480" y="29535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Generativa</a:t>
            </a:r>
            <a:endParaRPr lang="en-US" sz="1200" dirty="0"/>
          </a:p>
        </p:txBody>
      </p:sp>
      <p:sp>
        <p:nvSpPr>
          <p:cNvPr id="30" name="Text 22"/>
          <p:cNvSpPr/>
          <p:nvPr/>
        </p:nvSpPr>
        <p:spPr>
          <a:xfrm>
            <a:off x="3355848" y="3447288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 LLM para explicações em linguagem natural e recomendações personalizadas.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6089904" y="2788920"/>
            <a:ext cx="2651760" cy="1463040"/>
          </a:xfrm>
          <a:prstGeom prst="rect">
            <a:avLst/>
          </a:prstGeom>
          <a:solidFill>
            <a:srgbClr val="0F2236"/>
          </a:solidFill>
          <a:ln w="12700">
            <a:solidFill>
              <a:srgbClr val="1A3A52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6089904" y="2788920"/>
            <a:ext cx="26517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7064" y="2953512"/>
            <a:ext cx="384048" cy="384048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711696" y="29535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&amp; Deploy</a:t>
            </a:r>
            <a:endParaRPr lang="en-US" sz="1200" dirty="0"/>
          </a:p>
        </p:txBody>
      </p:sp>
      <p:sp>
        <p:nvSpPr>
          <p:cNvPr id="35" name="Text 26"/>
          <p:cNvSpPr/>
          <p:nvPr/>
        </p:nvSpPr>
        <p:spPr>
          <a:xfrm>
            <a:off x="6227064" y="3447288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· Docker · Git/GitHub · Postman · Cloud (Render/Railway).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201168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20116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VIABILIDADE TÉCNICA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0040" y="1170432"/>
            <a:ext cx="40690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1170432"/>
            <a:ext cx="406908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2801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Necessária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17830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</a:t>
            </a:r>
            <a:pPr indent="0" marL="0">
              <a:buNone/>
            </a:pPr>
            <a:r>
              <a:rPr lang="en-US" sz="120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Desenvolvedores Full Stack (React + Node.js)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235000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</a:t>
            </a:r>
            <a:pPr indent="0" marL="0">
              <a:buNone/>
            </a:pPr>
            <a:r>
              <a:rPr lang="en-US" sz="120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Designer UI/UX (opcional para protótipo atrativo)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2920" y="30175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Conhecimentos Essenciais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02920" y="3429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· Node.js · Express · PostgreSQL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02920" y="383133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externas e integração com IA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02920" y="42336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Segurança: bcrypt · JWT · validação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617720" y="1170432"/>
            <a:ext cx="42062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17720" y="1170432"/>
            <a:ext cx="420624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00600" y="12801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de Desenvolvimento</a:t>
            </a:r>
            <a:endParaRPr lang="en-US" sz="14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874520"/>
            <a:ext cx="347472" cy="34747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257800" y="1828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5257800" y="2103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principal de desenvolvimento</a:t>
            </a:r>
            <a:endParaRPr lang="en-US" sz="11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587752"/>
            <a:ext cx="347472" cy="34747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257800" y="25420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5257800" y="28163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Containerização e deploy</a:t>
            </a:r>
            <a:endParaRPr lang="en-US" sz="11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300984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257800" y="32552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257800" y="352958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versão e colaboração</a:t>
            </a:r>
            <a:endParaRPr lang="en-US" sz="11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4014216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257800" y="39684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5257800" y="424281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de API e endpoints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3200400"/>
            <a:ext cx="3200400" cy="32004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8288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20116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VIABILIDADE OPERACIONAL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74320" y="1051560"/>
            <a:ext cx="4114800" cy="2194560"/>
          </a:xfrm>
          <a:prstGeom prst="rect">
            <a:avLst/>
          </a:prstGeom>
          <a:solidFill>
            <a:srgbClr val="0F2236"/>
          </a:solidFill>
          <a:ln w="12700">
            <a:solidFill>
              <a:srgbClr val="1A3A5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74320" y="1051560"/>
            <a:ext cx="41148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16152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87552" y="12161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176479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cloud para o backend (Render, Railway ou AWS)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457200" y="222199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gerenciado na nuvem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457200" y="267919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via cloud ou PWA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617720" y="1051560"/>
            <a:ext cx="4114800" cy="2194560"/>
          </a:xfrm>
          <a:prstGeom prst="rect">
            <a:avLst/>
          </a:prstGeom>
          <a:solidFill>
            <a:srgbClr val="0F2236"/>
          </a:solidFill>
          <a:ln w="12700">
            <a:solidFill>
              <a:srgbClr val="1A3A5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617720" y="1051560"/>
            <a:ext cx="411480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216152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330952" y="12161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&amp; Manutenção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800600" y="176479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de uso e erros em tempo real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4800600" y="222199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periódica de dependências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4800600" y="267919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regular do banco de dados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274320" y="3401568"/>
            <a:ext cx="8458200" cy="1463040"/>
          </a:xfrm>
          <a:prstGeom prst="rect">
            <a:avLst/>
          </a:prstGeom>
          <a:solidFill>
            <a:srgbClr val="0F2236"/>
          </a:solidFill>
          <a:ln w="12700">
            <a:solidFill>
              <a:srgbClr val="1A3A5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274320" y="3401568"/>
            <a:ext cx="84582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566160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60120" y="3520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Contínua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automáticos para novos vazamentos detectados   •   Suporte técnico mínimo via e-mail ou chat integrado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201168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20116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VIABILIDADE ECONÔMICA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0040" y="1170432"/>
            <a:ext cx="40233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1170432"/>
            <a:ext cx="402336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11880" y="1261872"/>
            <a:ext cx="594360" cy="2926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11880" y="126187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9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8448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33272" y="12984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Gratuito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02920" y="187452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5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limitada de e-mails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502920" y="235000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5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risco básico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502920" y="2825496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5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completa de uso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617720" y="1170432"/>
            <a:ext cx="40233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617720" y="1170432"/>
            <a:ext cx="402336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909560" y="1261872"/>
            <a:ext cx="594360" cy="2926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909560" y="126187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9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298448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330952" y="12984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Premium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4800600" y="187452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5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ilimitados e tempo real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4800600" y="235000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5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completo de análises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4800600" y="2825496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50" dirty="0">
                <a:solidFill>
                  <a:srgbClr val="2D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Recomendações detalhadas da IA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320040" y="3630168"/>
            <a:ext cx="2697480" cy="1234440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52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749040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14400" y="3703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Inicial Baixo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457200" y="41148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acadêmico; cloud via free tiers (Render/Railway)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3246120" y="3630168"/>
            <a:ext cx="2697480" cy="1234440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52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3749040"/>
            <a:ext cx="347472" cy="34747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840480" y="3703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Preventiva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3383280" y="41148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 informado antes de sofrer fraudes ou golpes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6172200" y="3630168"/>
            <a:ext cx="2697480" cy="1234440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52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3749040"/>
            <a:ext cx="347472" cy="34747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766560" y="3703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Educação Digital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6309360" y="41148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Conscientização sobre segurança e boas práticas online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274320"/>
            <a:ext cx="1463040" cy="1463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7472" y="9144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SafeID</a:t>
            </a:r>
            <a:endParaRPr lang="en-US" sz="6400" dirty="0"/>
          </a:p>
        </p:txBody>
      </p:sp>
      <p:sp>
        <p:nvSpPr>
          <p:cNvPr id="7" name="Text 4"/>
          <p:cNvSpPr/>
          <p:nvPr/>
        </p:nvSpPr>
        <p:spPr>
          <a:xfrm>
            <a:off x="347472" y="1965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Protegendo quem você é no mundo digital.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2286000" y="2633472"/>
            <a:ext cx="4572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92608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874520" y="29260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viável técnica e economicamente</a:t>
            </a:r>
            <a:endParaRPr lang="en-US" sz="14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456432"/>
            <a:ext cx="347472" cy="34747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874520" y="345643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amplo e necessidade real</a:t>
            </a:r>
            <a:endParaRPr lang="en-US" sz="14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3986784"/>
            <a:ext cx="347472" cy="34747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874520" y="3986784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Diferencial com IA e score personalizado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347472" y="46634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A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Antônio  •  Kelvyn Milu  •  Lucas Vieira  •  Matheus Pereira  |  PI1A5 —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SafeID - Plataforma Web de Monitoramento de Exposição Digital</dc:title>
  <dc:subject>PptxGenJS Presentation</dc:subject>
  <dc:creator>PptxGenJS</dc:creator>
  <cp:lastModifiedBy>PptxGenJS</cp:lastModifiedBy>
  <cp:revision>1</cp:revision>
  <dcterms:created xsi:type="dcterms:W3CDTF">2026-03-10T23:25:22Z</dcterms:created>
  <dcterms:modified xsi:type="dcterms:W3CDTF">2026-03-10T23:25:22Z</dcterms:modified>
</cp:coreProperties>
</file>